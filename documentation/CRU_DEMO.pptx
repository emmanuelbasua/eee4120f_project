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324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Rotation Unit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0299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CORDIC-Based Trigonometric Co-Processor for StarCore-1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487168"/>
            <a:ext cx="841248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OrbitEdge-1 Mission  ·  Attitude Determination Subsystem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127248"/>
            <a:ext cx="1920240" cy="868680"/>
          </a:xfrm>
          <a:prstGeom prst="rect">
            <a:avLst/>
          </a:prstGeom>
          <a:solidFill>
            <a:srgbClr val="0E2240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31821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cycles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Latency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127248"/>
            <a:ext cx="1920240" cy="868680"/>
          </a:xfrm>
          <a:prstGeom prst="rect">
            <a:avLst/>
          </a:prstGeom>
          <a:solidFill>
            <a:srgbClr val="0E2240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31821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vs SW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3127248"/>
            <a:ext cx="1920240" cy="868680"/>
          </a:xfrm>
          <a:prstGeom prst="rect">
            <a:avLst/>
          </a:prstGeom>
          <a:solidFill>
            <a:srgbClr val="0E2240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31821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3127248"/>
            <a:ext cx="1920240" cy="868680"/>
          </a:xfrm>
          <a:prstGeom prst="rect">
            <a:avLst/>
          </a:prstGeom>
          <a:solidFill>
            <a:srgbClr val="0E2240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31821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16/16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Basua  ·  Adedamola Yusuff  ·  Sanjan Naidoo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EEE4120F HPES Project  |  Milestone 2 Demo  | 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5065776"/>
            <a:ext cx="9052560" cy="77724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satellite processor need a dedicated trig co-processor?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697480" cy="3291840"/>
          </a:xfrm>
          <a:prstGeom prst="rect">
            <a:avLst/>
          </a:prstGeom>
          <a:solidFill>
            <a:srgbClr val="0E2240"/>
          </a:solidFill>
          <a:ln w="1905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🔢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Determination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2331720"/>
            <a:ext cx="24780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StarCore-1 must compute sin θ and cos θ on every control-loop iteration for quaternion-based satellite orientation. Trig is the dominant workload.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2697480" cy="3291840"/>
          </a:xfrm>
          <a:prstGeom prst="rect">
            <a:avLst/>
          </a:prstGeom>
          <a:solidFill>
            <a:srgbClr val="0E2240"/>
          </a:solidFill>
          <a:ln w="1905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0" y="1097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🐌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18688" y="2331720"/>
            <a:ext cx="24780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CORDIC loop on StarCore-1 takes ~108 instruction cycles per sin/cos pair — too slow for real-time attitude control at mission frequency.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697480" cy="3291840"/>
          </a:xfrm>
          <a:prstGeom prst="rect">
            <a:avLst/>
          </a:prstGeom>
          <a:solidFill>
            <a:srgbClr val="0E2240"/>
          </a:solidFill>
          <a:ln w="1905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9320" y="1097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80760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FPU, No LUT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9048" y="2331720"/>
            <a:ext cx="24780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Radiation-tolerant FPGAs cannot afford a floating-point unit or a large lookup table. The CRU uses only shift-and-add arithmetic in 18 cycles.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526280"/>
            <a:ext cx="8686800" cy="384048"/>
          </a:xfrm>
          <a:prstGeom prst="rect">
            <a:avLst/>
          </a:prstGeom>
          <a:solidFill>
            <a:srgbClr val="1A0A0A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Offload trig to dedicated CORDIC hardware — 6× speedup, zero multipliers, bounded 18-cycle latency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474" y="4966247"/>
            <a:ext cx="9052560" cy="7772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 hangs off the StarCore-1 reserved opcode 1010 slot via a custom co-processor bus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926080" cy="3291840"/>
          </a:xfrm>
          <a:prstGeom prst="rect">
            <a:avLst/>
          </a:prstGeom>
          <a:solidFill>
            <a:srgbClr val="0E2240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8CA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StarCore-1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8CA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 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16-bit RISC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Harvard architecture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Single-cycle execution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Opcode 1010 reserved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co-processor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10554" y="1005840"/>
            <a:ext cx="3200400" cy="3291840"/>
          </a:xfrm>
          <a:prstGeom prst="rect">
            <a:avLst/>
          </a:prstGeom>
          <a:solidFill>
            <a:srgbClr val="0E2240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0" y="10515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Co-Processor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40680" y="17830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CORDIC FSM (3 states)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16 shift-and-add iterations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16-entry atan ROM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Q1.15 fixed-point output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18-cycle bounded latency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874520"/>
            <a:ext cx="2103120" cy="0"/>
          </a:xfrm>
          <a:prstGeom prst="line">
            <a:avLst/>
          </a:prstGeom>
          <a:noFill/>
          <a:ln w="254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90672" y="19476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ANGLE_IN 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606040"/>
            <a:ext cx="2103120" cy="0"/>
          </a:xfrm>
          <a:prstGeom prst="line">
            <a:avLst/>
          </a:prstGeom>
          <a:noFill/>
          <a:ln w="254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90672" y="26791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BUSY, VALID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337560"/>
            <a:ext cx="210312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90672" y="341071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COS_OUT, SIN_OUT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4137660"/>
            <a:ext cx="42976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1010  |  Custom Co-Processor Bus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4572000"/>
            <a:ext cx="6675120" cy="347472"/>
          </a:xfrm>
          <a:prstGeom prst="rect">
            <a:avLst/>
          </a:prstGeom>
          <a:solidFill>
            <a:srgbClr val="0E2240"/>
          </a:solidFill>
          <a:ln w="1270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0" y="459943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MMIO / Memory Bus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5065776"/>
            <a:ext cx="9052560" cy="777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CORDIC Engine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mode — iterative shift-and-add, no multipliers required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51960" cy="3931920"/>
          </a:xfrm>
          <a:prstGeom prst="rect">
            <a:avLst/>
          </a:prstGeom>
          <a:solidFill>
            <a:srgbClr val="0E2240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4069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</a:rPr>
              <a:t>Update equations (per iteration):
</a:t>
            </a:r>
            <a:r>
              <a:rPr lang="en-US" sz="13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</a:t>
            </a:r>
            <a:r>
              <a:rPr lang="en-US" sz="900" baseline="-5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i+1</a:t>
            </a:r>
            <a:r>
              <a:rPr lang="en-US" sz="13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</a:t>
            </a:r>
            <a:r>
              <a:rPr lang="en-US" sz="900" baseline="-5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d·y</a:t>
            </a:r>
            <a:r>
              <a:rPr lang="en-US" sz="900" baseline="-5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·2</a:t>
            </a:r>
            <a:r>
              <a:rPr lang="en-US" sz="900" baseline="25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−i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</a:t>
            </a:r>
            <a:endParaRPr lang="en-US" sz="1100" dirty="0"/>
          </a:p>
          <a:p>
            <a:pPr marL="0" indent="0" algn="l">
              <a:buNone/>
            </a:pPr>
            <a:r>
              <a:rPr lang="en-US" sz="900" baseline="-5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i+1</a:t>
            </a: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y</a:t>
            </a:r>
            <a:r>
              <a:rPr lang="en-US" sz="900" baseline="-5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d·x</a:t>
            </a:r>
            <a:r>
              <a:rPr lang="en-US" sz="900" baseline="-5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·2</a:t>
            </a:r>
            <a:r>
              <a:rPr lang="en-US" sz="900" baseline="2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−i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</a:t>
            </a:r>
            <a:endParaRPr lang="en-US" sz="1100" dirty="0"/>
          </a:p>
          <a:p>
            <a:pPr marL="0" indent="0" algn="l">
              <a:buNone/>
            </a:pPr>
            <a:r>
              <a:rPr lang="en-US" sz="900" baseline="-5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i+1</a:t>
            </a:r>
            <a:r>
              <a:rPr lang="en-US" sz="13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z</a:t>
            </a:r>
            <a:r>
              <a:rPr lang="en-US" sz="900" baseline="-5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d·atan(2</a:t>
            </a:r>
            <a:r>
              <a:rPr lang="en-US" sz="900" baseline="25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−i</a:t>
            </a:r>
            <a:r>
              <a:rPr lang="en-US" sz="13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sgn(z) — direction bit
</a:t>
            </a: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800" baseline="2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</a:t>
            </a: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arithmetic right-shift (free in hardware)
Initial values:
</a:t>
            </a:r>
            <a:r>
              <a:rPr lang="en-US" sz="11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x₀ = K⁻¹ = 0x4DB8  (0.6072 in Q1.15)
</a:t>
            </a:r>
            <a:r>
              <a:rPr lang="en-US" sz="11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y₀ = 0
</a:t>
            </a:r>
            <a:r>
              <a:rPr lang="en-US" sz="1100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z₀ = θ  (Q0.14 normalised)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16 iterations:  x→cos θ,  y→sin 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0E2240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 FSM — 3 States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39" y="1432041"/>
            <a:ext cx="1463041" cy="815256"/>
          </a:xfrm>
          <a:prstGeom prst="ellipse">
            <a:avLst/>
          </a:prstGeom>
          <a:solidFill>
            <a:srgbClr val="0B1A2E"/>
          </a:solidFill>
          <a:ln w="2540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148132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BUSY=0  VALID=0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926080"/>
            <a:ext cx="1325879" cy="747522"/>
          </a:xfrm>
          <a:prstGeom prst="ellipse">
            <a:avLst/>
          </a:prstGeom>
          <a:solidFill>
            <a:srgbClr val="0B1A2E"/>
          </a:solidFill>
          <a:ln w="254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1" y="2960370"/>
            <a:ext cx="1279280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BUSY=1  VALID=0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79" y="2892218"/>
            <a:ext cx="1310476" cy="815256"/>
          </a:xfrm>
          <a:prstGeom prst="ellipse">
            <a:avLst/>
          </a:prstGeom>
          <a:solidFill>
            <a:srgbClr val="0B1A2E"/>
          </a:solidFill>
          <a:ln w="254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79979" y="2881415"/>
            <a:ext cx="1623940" cy="776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BUSY=0  VALID=1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2128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START=1</a:t>
            </a:r>
            <a:endParaRPr lang="en-US" sz="9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x₀,y₀,z₀</a:t>
            </a:r>
            <a:endParaRPr lang="en-US" sz="9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05379" y="3092397"/>
            <a:ext cx="1164100" cy="837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 result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88522" y="3900630"/>
            <a:ext cx="1603717" cy="488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i&lt;16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CORDIC step,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i←i+1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1229516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ZA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 = 0 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4434840"/>
            <a:ext cx="3794760" cy="347472"/>
          </a:xfrm>
          <a:prstGeom prst="rect">
            <a:avLst/>
          </a:prstGeom>
          <a:solidFill>
            <a:srgbClr val="001A0A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44622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18-cycle bounded latency  (1 load + 16 iter + 1 done)</a:t>
            </a:r>
            <a:endParaRPr lang="en-US" sz="1000" dirty="0"/>
          </a:p>
        </p:txBody>
      </p:sp>
      <p:cxnSp>
        <p:nvCxnSpPr>
          <p:cNvPr id="30" name="Connector 30"/>
          <p:cNvCxnSpPr>
            <a:cxnSpLocks/>
          </p:cNvCxnSpPr>
          <p:nvPr/>
        </p:nvCxnSpPr>
        <p:spPr>
          <a:xfrm flipH="1">
            <a:off x="5781822" y="2144268"/>
            <a:ext cx="435218" cy="797814"/>
          </a:xfrm>
          <a:prstGeom prst="straightConnector1">
            <a:avLst/>
          </a:prstGeom>
          <a:ln w="38100">
            <a:solidFill>
              <a:srgbClr val="7FA8C9"/>
            </a:solidFill>
            <a:tailEnd type="triangle" w="med" len="med"/>
          </a:ln>
        </p:spPr>
      </p:cxnSp>
      <p:sp>
        <p:nvSpPr>
          <p:cNvPr id="31" name="Text 31"/>
          <p:cNvSpPr/>
          <p:nvPr/>
        </p:nvSpPr>
        <p:spPr>
          <a:xfrm>
            <a:off x="5440680" y="2285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>
              <a:solidFill>
                <a:srgbClr val="7FA8C9"/>
              </a:solidFill>
              <a:latin typeface="Calibri" pitchFamily="34" charset="0"/>
            </a:endParaRPr>
          </a:p>
        </p:txBody>
      </p:sp>
      <p:cxnSp>
        <p:nvCxnSpPr>
          <p:cNvPr id="33" name="Connector 33"/>
          <p:cNvCxnSpPr>
            <a:cxnSpLocks/>
            <a:stCxn id="13" idx="6"/>
            <a:endCxn id="15" idx="2"/>
          </p:cNvCxnSpPr>
          <p:nvPr/>
        </p:nvCxnSpPr>
        <p:spPr>
          <a:xfrm>
            <a:off x="6263639" y="3299841"/>
            <a:ext cx="777240" cy="5"/>
          </a:xfrm>
          <a:prstGeom prst="straightConnector1">
            <a:avLst/>
          </a:prstGeom>
          <a:ln w="38100">
            <a:solidFill>
              <a:srgbClr val="00E5A0"/>
            </a:solidFill>
            <a:tailEnd type="triangle" w="med" len="med"/>
          </a:ln>
        </p:spPr>
      </p:cxnSp>
      <p:cxnSp>
        <p:nvCxnSpPr>
          <p:cNvPr id="34" name="Connector 34"/>
          <p:cNvCxnSpPr>
            <a:cxnSpLocks/>
            <a:stCxn id="11" idx="0"/>
            <a:endCxn id="11" idx="6"/>
          </p:cNvCxnSpPr>
          <p:nvPr/>
        </p:nvCxnSpPr>
        <p:spPr>
          <a:xfrm rot="16200000" flipH="1">
            <a:off x="6928506" y="1270095"/>
            <a:ext cx="407628" cy="731520"/>
          </a:xfrm>
          <a:prstGeom prst="bentConnector4">
            <a:avLst>
              <a:gd name="adj1" fmla="val -56081"/>
              <a:gd name="adj2" fmla="val 131250"/>
            </a:avLst>
          </a:prstGeom>
          <a:ln w="38100">
            <a:solidFill>
              <a:srgbClr val="7FA8C9"/>
            </a:solidFill>
            <a:tailEnd type="triangle" w="med" len="med"/>
          </a:ln>
        </p:spPr>
      </p:cxnSp>
      <p:cxnSp>
        <p:nvCxnSpPr>
          <p:cNvPr id="35" name="Connector 35"/>
          <p:cNvCxnSpPr>
            <a:cxnSpLocks/>
            <a:stCxn id="13" idx="1"/>
            <a:endCxn id="13" idx="4"/>
          </p:cNvCxnSpPr>
          <p:nvPr/>
        </p:nvCxnSpPr>
        <p:spPr>
          <a:xfrm rot="16200000" flipH="1">
            <a:off x="5047290" y="3120192"/>
            <a:ext cx="638050" cy="468770"/>
          </a:xfrm>
          <a:prstGeom prst="bentConnector5">
            <a:avLst>
              <a:gd name="adj1" fmla="val -35828"/>
              <a:gd name="adj2" fmla="val -62428"/>
              <a:gd name="adj3" fmla="val 135828"/>
            </a:avLst>
          </a:prstGeom>
          <a:ln w="38100">
            <a:solidFill>
              <a:srgbClr val="FF8C00"/>
            </a:solidFill>
            <a:tailEnd type="triangle" w="med" len="med"/>
          </a:ln>
        </p:spPr>
      </p:cxnSp>
      <p:cxnSp>
        <p:nvCxnSpPr>
          <p:cNvPr id="44" name="Connector 30">
            <a:extLst>
              <a:ext uri="{FF2B5EF4-FFF2-40B4-BE49-F238E27FC236}">
                <a16:creationId xmlns:a16="http://schemas.microsoft.com/office/drawing/2014/main" id="{FE195BB0-9FD8-8F4B-1A32-179DDA16CD5F}"/>
              </a:ext>
            </a:extLst>
          </p:cNvPr>
          <p:cNvCxnSpPr>
            <a:cxnSpLocks/>
            <a:stCxn id="11" idx="5"/>
            <a:endCxn id="15" idx="0"/>
          </p:cNvCxnSpPr>
          <p:nvPr/>
        </p:nvCxnSpPr>
        <p:spPr>
          <a:xfrm>
            <a:off x="7283823" y="2127906"/>
            <a:ext cx="412294" cy="764312"/>
          </a:xfrm>
          <a:prstGeom prst="straightConnector1">
            <a:avLst/>
          </a:prstGeom>
          <a:ln w="38100">
            <a:solidFill>
              <a:srgbClr val="7FA8C9"/>
            </a:solidFill>
            <a:tailEnd type="triangle" w="med" len="med"/>
          </a:ln>
        </p:spPr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A649E76F-34A9-6050-0456-7ECEED442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902" y="2345947"/>
            <a:ext cx="786452" cy="384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5065776"/>
            <a:ext cx="9052560" cy="7772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Standard — What Is It?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we compare all hardware results against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4114800" cy="3886200"/>
          </a:xfrm>
          <a:prstGeom prst="rect">
            <a:avLst/>
          </a:prstGeom>
          <a:solidFill>
            <a:srgbClr val="0E2240"/>
          </a:solidFill>
          <a:ln w="1905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033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AF8"/>
                </a:solidFill>
              </a:rPr>
              <a:t>A gold standard (or golden measure) is a
</a:t>
            </a:r>
            <a:r>
              <a:rPr lang="en-US" sz="1200" b="1" dirty="0">
                <a:solidFill>
                  <a:srgbClr val="FF8C00"/>
                </a:solidFill>
              </a:rPr>
              <a:t>trusted reference output</a:t>
            </a:r>
            <a:r>
              <a:rPr lang="en-US" sz="1200" dirty="0">
                <a:solidFill>
                  <a:srgbClr val="D6EAF8"/>
                </a:solidFill>
              </a:rPr>
              <a:t> computed by a
high-precision tool, used to verify that
your hardware produces correct results.
</a:t>
            </a:r>
            <a:r>
              <a:rPr lang="en-US" sz="1100" dirty="0">
                <a:solidFill>
                  <a:srgbClr val="7FA8C9"/>
                </a:solidFill>
              </a:rPr>
              <a:t>Our gold standard:
</a:t>
            </a:r>
            <a:r>
              <a:rPr lang="en-US" sz="1200" dirty="0">
                <a:solidFill>
                  <a:srgbClr val="00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math.cos() / math.sin()
  IEEE 754 double precision (64-bit)
  Accurate to 15 decimal places
</a:t>
            </a:r>
            <a:r>
              <a:rPr lang="en-US" sz="1100" dirty="0">
                <a:solidFill>
                  <a:srgbClr val="7FA8C9"/>
                </a:solidFill>
              </a:rPr>
              <a:t>The CRU uses 16-bit fixed-point Q1.15
(max 15 fractional bits of precision).
</a:t>
            </a:r>
            <a:r>
              <a:rPr lang="en-US" sz="1100" dirty="0">
                <a:solidFill>
                  <a:srgbClr val="D6EAF8"/>
                </a:solidFill>
              </a:rPr>
              <a:t>We quantise the Python result to Q1.15
then compare — any difference is the
CORDIC quantisation error in LSBs.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987552"/>
            <a:ext cx="4297680" cy="3886200"/>
          </a:xfrm>
          <a:prstGeom prst="rect">
            <a:avLst/>
          </a:prstGeom>
          <a:solidFill>
            <a:srgbClr val="0E2240"/>
          </a:solidFill>
          <a:ln w="1905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10332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463040"/>
            <a:ext cx="4069080" cy="685800"/>
          </a:xfrm>
          <a:prstGeom prst="rect">
            <a:avLst/>
          </a:prstGeom>
          <a:solidFill>
            <a:srgbClr val="0B1A2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14996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6592" y="17647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theta = 0x400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(= 45 degrees)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81728" y="2267712"/>
            <a:ext cx="4069080" cy="685800"/>
          </a:xfrm>
          <a:prstGeom prst="rect">
            <a:avLst/>
          </a:prstGeom>
          <a:solidFill>
            <a:srgbClr val="0B1A2E"/>
          </a:solidFill>
          <a:ln w="1524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36592" y="23042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592" y="25694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cos(45°) = 0.70711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Quantised to Q1.15: 0x5A82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95351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1728" y="3072384"/>
            <a:ext cx="4069080" cy="685800"/>
          </a:xfrm>
          <a:prstGeom prst="rect">
            <a:avLst/>
          </a:prstGeom>
          <a:solidFill>
            <a:srgbClr val="0B1A2E"/>
          </a:solidFill>
          <a:ln w="1524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36592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 Hardware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36592" y="33741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CORDIC 16 iterations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0x5A7E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75818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1728" y="3877056"/>
            <a:ext cx="4069080" cy="685800"/>
          </a:xfrm>
          <a:prstGeom prst="rect">
            <a:avLst/>
          </a:prstGeom>
          <a:solidFill>
            <a:srgbClr val="0B1A2E"/>
          </a:solidFill>
          <a:ln w="1524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36592" y="39136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6592" y="4178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|0x5A7E − 0x5A82| = 4 LSB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≤ 20 threshold → PASS 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5065776"/>
            <a:ext cx="9052560" cy="7772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Standard Results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 Q1.15 output vs IEEE double-precision reference — 16 angles tested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87552"/>
          <a:ext cx="7863840" cy="37084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Angle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θ (hex)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 (IEEE float)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 (IEEE float)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CRU cos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CRU sin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 (LSB)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0°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0x7FFD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0x0002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15°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0x155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0.96593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0.25882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0x7BA3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0x211C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30°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0x2AB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0.86603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0x6ED4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0x4005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45°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0x400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0.70711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0.70711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0x5A7E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0x5A81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60°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0x555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0.86603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0x4005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0x6ED4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75°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0x6AB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0.25882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0.96593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0x2114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0x7BA5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≤13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-45°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0xC00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0.70711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-0.70711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0x5A84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0xA582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-75°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0x955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0.25882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-0.96593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0x211F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0x845D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228600" y="4736592"/>
            <a:ext cx="8686800" cy="274320"/>
          </a:xfrm>
          <a:prstGeom prst="rect">
            <a:avLst/>
          </a:prstGeom>
          <a:solidFill>
            <a:srgbClr val="1A0D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75488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16 tests PASS  ·  </a:t>
            </a: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error 20 LSB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0.061% of full scale  ·  </a:t>
            </a: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set to 20 LSB (theoretical limit for 16-iteration CORDIC)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5065776"/>
            <a:ext cx="9052560" cy="7772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Results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iVerilog + VCD — 16-angle sweep — all tests self-checking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4754880" cy="3886200"/>
          </a:xfrm>
          <a:prstGeom prst="rect">
            <a:avLst/>
          </a:prstGeom>
          <a:solidFill>
            <a:srgbClr val="0E2240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332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17320"/>
            <a:ext cx="45720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
  CRU Simulation  cordic_engine.v
==============================================
</a:t>
            </a:r>
            <a:r>
              <a:rPr lang="en-US" sz="8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 0 | θ=0x000 | cos=0x7ffd(err=0) sin=0x0002(err=0) | cyc=17
[PASS] Test  1 | θ=0x0e4 | cos=0x7e08(err=0) sin=0x1648(err=0) | cyc=17
[PASS] Test  2 | θ=0x155 | cos=0x7ba3(err=0) sin=0x211c(err=0) | cyc=17
[PASS] Test  3 | θ=0x200 | cos=0x763c(err=11) sin=0x30fd(err=1)| cyc=17
</a:t>
            </a:r>
            <a:r>
              <a:rPr lang="en-US" sz="85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(tests 4–14 all PASS)  ...
</a:t>
            </a:r>
            <a:r>
              <a:rPr lang="en-US" sz="8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[PASS] Test 15 | θ=0x000 | cos=0x7ffd(err=0) sin=0x0002(err=0) | cyc=17
</a:t>
            </a:r>
            <a:r>
              <a:rPr lang="en-US" sz="8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PASS: 16  FAIL: 0  TOTAL: 16
</a:t>
            </a:r>
            <a:r>
              <a:rPr lang="en-US" sz="8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*** ALL TESTS PASSED ***
</a:t>
            </a:r>
            <a:r>
              <a:rPr lang="en-US" sz="8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66360" y="987552"/>
            <a:ext cx="1783080" cy="1783080"/>
          </a:xfrm>
          <a:prstGeom prst="rect">
            <a:avLst/>
          </a:prstGeom>
          <a:solidFill>
            <a:srgbClr val="0E2240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1152144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16/16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212080" y="194767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86600" y="987552"/>
            <a:ext cx="1783080" cy="1783080"/>
          </a:xfrm>
          <a:prstGeom prst="rect">
            <a:avLst/>
          </a:prstGeom>
          <a:solidFill>
            <a:srgbClr val="0E2240"/>
          </a:solidFill>
          <a:ln w="1905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86600" y="1152144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2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132320" y="194767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to VALID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START)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66360" y="2999232"/>
            <a:ext cx="1783080" cy="1783080"/>
          </a:xfrm>
          <a:prstGeom prst="rect">
            <a:avLst/>
          </a:prstGeom>
          <a:solidFill>
            <a:srgbClr val="0E2240"/>
          </a:solidFill>
          <a:ln w="1905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6360" y="3163824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≤20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212080" y="395935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Error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(LSB)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86600" y="2999232"/>
            <a:ext cx="1783080" cy="1783080"/>
          </a:xfrm>
          <a:prstGeom prst="rect">
            <a:avLst/>
          </a:prstGeom>
          <a:solidFill>
            <a:srgbClr val="0E2240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86600" y="3163824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8CA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32320" y="395935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5065776"/>
            <a:ext cx="9052560" cy="7772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 vs StarCore-1 software CORDIC — Amdahl's Law framing</a:t>
            </a:r>
            <a:endParaRPr lang="en-US" sz="1200" dirty="0"/>
          </a:p>
        </p:txBody>
      </p:sp>
      <p:sp>
        <p:nvSpPr>
          <p:cNvPr id="50" name="Shape 50"/>
          <p:cNvSpPr/>
          <p:nvPr/>
        </p:nvSpPr>
        <p:spPr>
          <a:xfrm>
            <a:off x="228600" y="987552"/>
            <a:ext cx="4343400" cy="685800"/>
          </a:xfrm>
          <a:prstGeom prst="rect">
            <a:avLst/>
          </a:prstGeom>
          <a:solidFill>
            <a:srgbClr val="0E2240"/>
          </a:solidFill>
          <a:ln w="19050">
            <a:solidFill>
              <a:srgbClr val="FF8C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51"/>
          <p:cNvSpPr/>
          <p:nvPr/>
        </p:nvSpPr>
        <p:spPr>
          <a:xfrm>
            <a:off x="320040" y="1010352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</a:rPr>
              <a:t>Amdahl's Law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Speedup = 1 / (1-p + p/s)</a:t>
            </a:r>
          </a:p>
        </p:txBody>
      </p:sp>
      <p:sp>
        <p:nvSpPr>
          <p:cNvPr id="52" name="Text 52"/>
          <p:cNvSpPr/>
          <p:nvPr/>
        </p:nvSpPr>
        <p:spPr>
          <a:xfrm>
            <a:off x="228600" y="1750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</a:rPr>
              <a:t>SW</a:t>
            </a:r>
          </a:p>
        </p:txBody>
      </p:sp>
      <p:sp>
        <p:nvSpPr>
          <p:cNvPr id="53" name="Shape 53"/>
          <p:cNvSpPr/>
          <p:nvPr/>
        </p:nvSpPr>
        <p:spPr>
          <a:xfrm>
            <a:off x="777240" y="1750440"/>
            <a:ext cx="3200400" cy="2743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4"/>
          <p:cNvSpPr/>
          <p:nvPr/>
        </p:nvSpPr>
        <p:spPr>
          <a:xfrm>
            <a:off x="3977640" y="1750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108 cy</a:t>
            </a:r>
          </a:p>
        </p:txBody>
      </p:sp>
      <p:sp>
        <p:nvSpPr>
          <p:cNvPr id="55" name="Text 55"/>
          <p:cNvSpPr/>
          <p:nvPr/>
        </p:nvSpPr>
        <p:spPr>
          <a:xfrm>
            <a:off x="228600" y="2101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</a:rPr>
              <a:t>CRU</a:t>
            </a:r>
          </a:p>
        </p:txBody>
      </p:sp>
      <p:sp>
        <p:nvSpPr>
          <p:cNvPr id="56" name="Shape 56"/>
          <p:cNvSpPr/>
          <p:nvPr/>
        </p:nvSpPr>
        <p:spPr>
          <a:xfrm>
            <a:off x="777240" y="2101800"/>
            <a:ext cx="533400" cy="2743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7"/>
          <p:cNvSpPr/>
          <p:nvPr/>
        </p:nvSpPr>
        <p:spPr>
          <a:xfrm>
            <a:off x="1310640" y="2101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18 cy</a:t>
            </a:r>
          </a:p>
        </p:txBody>
      </p:sp>
      <p:sp>
        <p:nvSpPr>
          <p:cNvPr id="58" name="Shape 58"/>
          <p:cNvSpPr/>
          <p:nvPr/>
        </p:nvSpPr>
        <p:spPr>
          <a:xfrm>
            <a:off x="228600" y="2514600"/>
            <a:ext cx="2057400" cy="1005840"/>
          </a:xfrm>
          <a:prstGeom prst="rect">
            <a:avLst/>
          </a:prstGeom>
          <a:solidFill>
            <a:srgbClr val="001A0A"/>
          </a:solidFill>
          <a:ln w="19050">
            <a:solidFill>
              <a:srgbClr val="06D6A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9"/>
          <p:cNvSpPr/>
          <p:nvPr/>
        </p:nvSpPr>
        <p:spPr>
          <a:xfrm>
            <a:off x="320040" y="256032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6D6A0"/>
                </a:solidFill>
                <a:latin typeface="Arial Black" pitchFamily="34" charset="0"/>
              </a:rPr>
              <a:t>6x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</a:rPr>
              <a:t>trig speedup</a:t>
            </a:r>
          </a:p>
        </p:txBody>
      </p:sp>
      <p:sp>
        <p:nvSpPr>
          <p:cNvPr id="60" name="Shape 60"/>
          <p:cNvSpPr/>
          <p:nvPr/>
        </p:nvSpPr>
        <p:spPr>
          <a:xfrm>
            <a:off x="2377440" y="2514600"/>
            <a:ext cx="2194560" cy="1005840"/>
          </a:xfrm>
          <a:prstGeom prst="rect">
            <a:avLst/>
          </a:prstGeom>
          <a:solidFill>
            <a:srgbClr val="1A0D00"/>
          </a:solidFill>
          <a:ln w="19050">
            <a:solidFill>
              <a:srgbClr val="FF8C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61"/>
          <p:cNvSpPr/>
          <p:nvPr/>
        </p:nvSpPr>
        <p:spPr>
          <a:xfrm>
            <a:off x="2468880" y="25603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8C00"/>
                </a:solidFill>
                <a:latin typeface="Arial Black" pitchFamily="34" charset="0"/>
              </a:rPr>
              <a:t>~3.2x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</a:rPr>
              <a:t>overall (Amdahl)</a:t>
            </a: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987552"/>
          <a:ext cx="3931920" cy="3474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 CORDIC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/ sin+cos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 table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entries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bounded?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18 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 (trig op)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speedup*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(est.)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LUTs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4617720"/>
            <a:ext cx="8686800" cy="384048"/>
          </a:xfrm>
          <a:prstGeom prst="rect">
            <a:avLst/>
          </a:prstGeom>
          <a:solidFill>
            <a:srgbClr val="1A0D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Amdahl's Law: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trig = 83% of runtime, overall speedup = 1/(0.17 + 0.83/6) ≈ 3.2×</a:t>
            </a: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remaining 17% limits total gain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5065776"/>
            <a:ext cx="9052560" cy="7772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783080"/>
          </a:xfrm>
          <a:prstGeom prst="rect">
            <a:avLst/>
          </a:prstGeom>
          <a:solidFill>
            <a:srgbClr val="0E2240"/>
          </a:solidFill>
          <a:ln w="1905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6× Speedup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2704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 computes sin/cos in 18 cycles vs ~108 cycles for software CORDIC on StarCore-1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1783080"/>
          </a:xfrm>
          <a:prstGeom prst="rect">
            <a:avLst/>
          </a:prstGeom>
          <a:solidFill>
            <a:srgbClr val="0E2240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0698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Verified Accuracy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152704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 gold standard tests pass — worst case 20 LSB = 0.061% error vs IEEE double-precision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926080"/>
            <a:ext cx="4206240" cy="1783080"/>
          </a:xfrm>
          <a:prstGeom prst="rect">
            <a:avLst/>
          </a:prstGeom>
          <a:solidFill>
            <a:srgbClr val="0E2240"/>
          </a:solidFill>
          <a:ln w="1905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Multiplier-Free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49300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shift-and-add CORDIC — no DSP blocks, ideal for radiation-tolerant FPGA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206240" cy="1783080"/>
          </a:xfrm>
          <a:prstGeom prst="rect">
            <a:avLst/>
          </a:prstGeom>
          <a:solidFill>
            <a:srgbClr val="0E2240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30358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Clean Interface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49300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1010 co-processor bus, BUSY/VALID handshake, bounded latency — zero pipeline stalls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OrbitEdge-1  ·  CRU Co-Processor  ·  EEE4120F HPES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1233</Words>
  <Application>Microsoft Office PowerPoint</Application>
  <PresentationFormat>On-screen Show (16:9)</PresentationFormat>
  <Paragraphs>228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Emmanuel Basua</cp:lastModifiedBy>
  <cp:revision>2</cp:revision>
  <dcterms:created xsi:type="dcterms:W3CDTF">2026-05-17T22:00:10Z</dcterms:created>
  <dcterms:modified xsi:type="dcterms:W3CDTF">2026-05-18T17:30:29Z</dcterms:modified>
</cp:coreProperties>
</file>